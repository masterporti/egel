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theme/theme2.xml" Type="http://schemas.openxmlformats.org/officeDocument/2006/relationships/theme" Id="rId1"/><Relationship Target="slides/slide8.xml" Type="http://schemas.openxmlformats.org/officeDocument/2006/relationships/slide" Id="rId13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2" name="Shape 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3" name="Shape 7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8" name="Shape 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9" name="Shape 7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6" name="Shape 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7" name="Shape 8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2" name="Shape 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3" name="Shape 9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9" name="Shape 9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0" name="Shape 10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5" name="Shape 1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6" name="Shape 10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2" name="Shape 1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9" name="Shape 1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5" name="Shape 1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6" name="Shape 1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7" name="Shape 13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2" name="Shape 1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>
            <a:off y="1200150" x="0"/>
            <a:ext cy="2743199" cx="9144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9" name="Shape 9"/>
          <p:cNvGrpSpPr/>
          <p:nvPr/>
        </p:nvGrpSpPr>
        <p:grpSpPr>
          <a:xfrm>
            <a:off y="-1078" x="0"/>
            <a:ext cy="5144627" cx="1827407"/>
            <a:chOff y="-1438" x="0"/>
            <a:chExt cy="6859503" cx="798029"/>
          </a:xfrm>
        </p:grpSpPr>
        <p:sp>
          <p:nvSpPr>
            <p:cNvPr id="10" name="Shape 10"/>
            <p:cNvSpPr/>
            <p:nvPr/>
          </p:nvSpPr>
          <p:spPr>
            <a:xfrm>
              <a:off y="-1438" x="0"/>
              <a:ext cy="6858065" cx="798029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11" name="Shape 11"/>
            <p:cNvSpPr/>
            <p:nvPr/>
          </p:nvSpPr>
          <p:spPr>
            <a:xfrm>
              <a:off y="0" x="0"/>
              <a:ext cy="6858065" cx="399014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12" name="Shape 12"/>
          <p:cNvGrpSpPr/>
          <p:nvPr/>
        </p:nvGrpSpPr>
        <p:grpSpPr>
          <a:xfrm flipH="1">
            <a:off y="0" x="7316591"/>
            <a:ext cy="5144627" cx="1827407"/>
            <a:chOff y="-1438" x="0"/>
            <a:chExt cy="6859503" cx="798029"/>
          </a:xfrm>
        </p:grpSpPr>
        <p:sp>
          <p:nvSpPr>
            <p:cNvPr id="13" name="Shape 13"/>
            <p:cNvSpPr/>
            <p:nvPr/>
          </p:nvSpPr>
          <p:spPr>
            <a:xfrm>
              <a:off y="-1438" x="0"/>
              <a:ext cy="6858065" cx="798029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14" name="Shape 14"/>
            <p:cNvSpPr/>
            <p:nvPr/>
          </p:nvSpPr>
          <p:spPr>
            <a:xfrm>
              <a:off y="0" x="0"/>
              <a:ext cy="6858065" cx="399014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15" name="Shape 15"/>
          <p:cNvSpPr txBox="1"/>
          <p:nvPr>
            <p:ph type="ctrTitle"/>
          </p:nvPr>
        </p:nvSpPr>
        <p:spPr>
          <a:xfrm>
            <a:off y="1568184" x="685800"/>
            <a:ext cy="1238099" cx="77724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algn="ctr" indent="304800">
              <a:buSzPct val="100000"/>
              <a:defRPr sz="4800"/>
            </a:lvl1pPr>
            <a:lvl2pPr algn="ctr" indent="304800">
              <a:buSzPct val="100000"/>
              <a:defRPr sz="4800"/>
            </a:lvl2pPr>
            <a:lvl3pPr algn="ctr" indent="304800">
              <a:buSzPct val="100000"/>
              <a:defRPr sz="4800"/>
            </a:lvl3pPr>
            <a:lvl4pPr algn="ctr" indent="304800">
              <a:buSzPct val="100000"/>
              <a:defRPr sz="4800"/>
            </a:lvl4pPr>
            <a:lvl5pPr algn="ctr" indent="304800">
              <a:buSzPct val="100000"/>
              <a:defRPr sz="4800"/>
            </a:lvl5pPr>
            <a:lvl6pPr algn="ctr" indent="304800">
              <a:buSzPct val="100000"/>
              <a:defRPr sz="4800"/>
            </a:lvl6pPr>
            <a:lvl7pPr algn="ctr" indent="304800">
              <a:buSzPct val="100000"/>
              <a:defRPr sz="4800"/>
            </a:lvl7pPr>
            <a:lvl8pPr algn="ctr" indent="304800">
              <a:buSzPct val="100000"/>
              <a:defRPr sz="4800"/>
            </a:lvl8pPr>
            <a:lvl9pPr algn="ctr" indent="304800">
              <a:buSzPct val="100000"/>
              <a:defRPr sz="4800"/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y="2914650" x="685800"/>
            <a:ext cy="658500" cx="77724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1pPr>
            <a:lvl2pPr algn="ctr" indent="152400" marL="0">
              <a:spcBef>
                <a:spcPts val="0"/>
              </a:spcBef>
              <a:buClr>
                <a:schemeClr val="lt2"/>
              </a:buClr>
              <a:buNone/>
              <a:defRPr>
                <a:solidFill>
                  <a:schemeClr val="lt2"/>
                </a:solidFill>
              </a:defRPr>
            </a:lvl2pPr>
            <a:lvl3pPr algn="ctr" indent="152400" marL="0">
              <a:spcBef>
                <a:spcPts val="0"/>
              </a:spcBef>
              <a:buClr>
                <a:schemeClr val="lt2"/>
              </a:buClr>
              <a:buNone/>
              <a:defRPr>
                <a:solidFill>
                  <a:schemeClr val="lt2"/>
                </a:solidFill>
              </a:defRPr>
            </a:lvl3pPr>
            <a:lvl4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4pPr>
            <a:lvl5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5pPr>
            <a:lvl6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6pPr>
            <a:lvl7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7pPr>
            <a:lvl8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8pPr>
            <a:lvl9pPr algn="ctr" indent="152400" marL="0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/>
          <p:nvPr/>
        </p:nvSpPr>
        <p:spPr>
          <a:xfrm>
            <a:off y="-1078" x="0"/>
            <a:ext cy="11441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19" name="Shape 19"/>
          <p:cNvGrpSpPr/>
          <p:nvPr/>
        </p:nvGrpSpPr>
        <p:grpSpPr>
          <a:xfrm>
            <a:off y="-1078" x="0"/>
            <a:ext cy="5144627" cx="649180"/>
            <a:chOff y="-1438" x="0"/>
            <a:chExt cy="6859503" cx="649180"/>
          </a:xfrm>
        </p:grpSpPr>
        <p:sp>
          <p:nvSpPr>
            <p:cNvPr id="20" name="Shape 20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21" name="Shape 21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22" name="Shape 22"/>
          <p:cNvGrpSpPr/>
          <p:nvPr/>
        </p:nvGrpSpPr>
        <p:grpSpPr>
          <a:xfrm flipH="1">
            <a:off y="0" x="8494493"/>
            <a:ext cy="5144627" cx="649180"/>
            <a:chOff y="-1438" x="0"/>
            <a:chExt cy="6859503" cx="649180"/>
          </a:xfrm>
        </p:grpSpPr>
        <p:sp>
          <p:nvSpPr>
            <p:cNvPr id="23" name="Shape 2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24" name="Shape 2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25" name="Shape 25"/>
          <p:cNvSpPr/>
          <p:nvPr/>
        </p:nvSpPr>
        <p:spPr>
          <a:xfrm>
            <a:off y="4743450" x="0"/>
            <a:ext cy="4010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26" name="Shape 26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8" name="Shape 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" name="Shape 29"/>
          <p:cNvSpPr/>
          <p:nvPr/>
        </p:nvSpPr>
        <p:spPr>
          <a:xfrm>
            <a:off y="-1078" x="0"/>
            <a:ext cy="11441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30" name="Shape 30"/>
          <p:cNvGrpSpPr/>
          <p:nvPr/>
        </p:nvGrpSpPr>
        <p:grpSpPr>
          <a:xfrm>
            <a:off y="-1078" x="0"/>
            <a:ext cy="5144627" cx="649180"/>
            <a:chOff y="-1438" x="0"/>
            <a:chExt cy="6859503" cx="649180"/>
          </a:xfrm>
        </p:grpSpPr>
        <p:sp>
          <p:nvSpPr>
            <p:cNvPr id="31" name="Shape 31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32" name="Shape 32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33" name="Shape 33"/>
          <p:cNvGrpSpPr/>
          <p:nvPr/>
        </p:nvGrpSpPr>
        <p:grpSpPr>
          <a:xfrm flipH="1">
            <a:off y="0" x="8494493"/>
            <a:ext cy="5144627" cx="649180"/>
            <a:chOff y="-1438" x="0"/>
            <a:chExt cy="6859503" cx="649180"/>
          </a:xfrm>
        </p:grpSpPr>
        <p:sp>
          <p:nvSpPr>
            <p:cNvPr id="34" name="Shape 34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35" name="Shape 35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36" name="Shape 36"/>
          <p:cNvSpPr/>
          <p:nvPr/>
        </p:nvSpPr>
        <p:spPr>
          <a:xfrm>
            <a:off y="4743450" x="0"/>
            <a:ext cy="4010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y="1200150" x="457200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y="1200150" x="4692273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40" name="Shape 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" name="Shape 41"/>
          <p:cNvSpPr/>
          <p:nvPr/>
        </p:nvSpPr>
        <p:spPr>
          <a:xfrm>
            <a:off y="-1078" x="0"/>
            <a:ext cy="11441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42" name="Shape 42"/>
          <p:cNvGrpSpPr/>
          <p:nvPr/>
        </p:nvGrpSpPr>
        <p:grpSpPr>
          <a:xfrm>
            <a:off y="-1078" x="0"/>
            <a:ext cy="5144627" cx="649180"/>
            <a:chOff y="-1438" x="0"/>
            <a:chExt cy="6859503" cx="649180"/>
          </a:xfrm>
        </p:grpSpPr>
        <p:sp>
          <p:nvSpPr>
            <p:cNvPr id="43" name="Shape 4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44" name="Shape 4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45" name="Shape 45"/>
          <p:cNvGrpSpPr/>
          <p:nvPr/>
        </p:nvGrpSpPr>
        <p:grpSpPr>
          <a:xfrm flipH="1">
            <a:off y="0" x="8494493"/>
            <a:ext cy="5144627" cx="649180"/>
            <a:chOff y="-1438" x="0"/>
            <a:chExt cy="6859503" cx="649180"/>
          </a:xfrm>
        </p:grpSpPr>
        <p:sp>
          <p:nvSpPr>
            <p:cNvPr id="46" name="Shape 46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47" name="Shape 47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48" name="Shape 48"/>
          <p:cNvSpPr/>
          <p:nvPr/>
        </p:nvSpPr>
        <p:spPr>
          <a:xfrm>
            <a:off y="4743450" x="0"/>
            <a:ext cy="4010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49" name="Shape 49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50" name="Shape 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1" name="Shape 51"/>
          <p:cNvSpPr/>
          <p:nvPr/>
        </p:nvSpPr>
        <p:spPr>
          <a:xfrm>
            <a:off y="-1078" x="0"/>
            <a:ext cy="11441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52" name="Shape 52"/>
          <p:cNvGrpSpPr/>
          <p:nvPr/>
        </p:nvGrpSpPr>
        <p:grpSpPr>
          <a:xfrm>
            <a:off y="-1078" x="0"/>
            <a:ext cy="5144627" cx="649180"/>
            <a:chOff y="-1438" x="0"/>
            <a:chExt cy="6859503" cx="649180"/>
          </a:xfrm>
        </p:grpSpPr>
        <p:sp>
          <p:nvSpPr>
            <p:cNvPr id="53" name="Shape 5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54" name="Shape 5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55" name="Shape 55"/>
          <p:cNvGrpSpPr/>
          <p:nvPr/>
        </p:nvGrpSpPr>
        <p:grpSpPr>
          <a:xfrm flipH="1">
            <a:off y="0" x="8494493"/>
            <a:ext cy="5144627" cx="649180"/>
            <a:chOff y="-1438" x="0"/>
            <a:chExt cy="6859503" cx="649180"/>
          </a:xfrm>
        </p:grpSpPr>
        <p:sp>
          <p:nvSpPr>
            <p:cNvPr id="56" name="Shape 56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57" name="Shape 57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58" name="Shape 58"/>
          <p:cNvSpPr/>
          <p:nvPr/>
        </p:nvSpPr>
        <p:spPr>
          <a:xfrm>
            <a:off y="4743450" x="0"/>
            <a:ext cy="4010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y="4406309" x="457200"/>
            <a:ext cy="5195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 indent="-171450" marL="285750">
              <a:spcBef>
                <a:spcPts val="0"/>
              </a:spcBef>
              <a:buClr>
                <a:schemeClr val="lt2"/>
              </a:buClr>
              <a:buSzPct val="100000"/>
              <a:buNone/>
              <a:defRPr sz="1800">
                <a:solidFill>
                  <a:schemeClr val="lt2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60" name="Shape 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1" name="Shape 61"/>
          <p:cNvSpPr/>
          <p:nvPr/>
        </p:nvSpPr>
        <p:spPr>
          <a:xfrm>
            <a:off y="-1078" x="0"/>
            <a:ext cy="11441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62" name="Shape 62"/>
          <p:cNvGrpSpPr/>
          <p:nvPr/>
        </p:nvGrpSpPr>
        <p:grpSpPr>
          <a:xfrm>
            <a:off y="-1078" x="0"/>
            <a:ext cy="5144627" cx="649180"/>
            <a:chOff y="-1438" x="0"/>
            <a:chExt cy="6859503" cx="649180"/>
          </a:xfrm>
        </p:grpSpPr>
        <p:sp>
          <p:nvSpPr>
            <p:cNvPr id="63" name="Shape 6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64" name="Shape 6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65" name="Shape 65"/>
          <p:cNvGrpSpPr/>
          <p:nvPr/>
        </p:nvGrpSpPr>
        <p:grpSpPr>
          <a:xfrm flipH="1">
            <a:off y="0" x="8494493"/>
            <a:ext cy="5144627" cx="649180"/>
            <a:chOff y="-1438" x="0"/>
            <a:chExt cy="6859503" cx="649180"/>
          </a:xfrm>
        </p:grpSpPr>
        <p:sp>
          <p:nvSpPr>
            <p:cNvPr id="66" name="Shape 66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67" name="Shape 67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68" name="Shape 68"/>
          <p:cNvSpPr/>
          <p:nvPr/>
        </p:nvSpPr>
        <p:spPr>
          <a:xfrm>
            <a:off y="4743450" x="0"/>
            <a:ext cy="4010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1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t="50%" b="50%" r="50%" l="50%"/>
          </a:path>
          <a:tileRect/>
        </a:gra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228600" marL="0">
              <a:buClr>
                <a:schemeClr val="lt2"/>
              </a:buClr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indent="-152400" marL="342900">
              <a:spcBef>
                <a:spcPts val="600"/>
              </a:spcBef>
              <a:buClr>
                <a:schemeClr val="lt1"/>
              </a:buClr>
              <a:buSzPct val="100000"/>
              <a:buFont typeface="Trebuchet MS"/>
              <a:defRPr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133350" marL="742950">
              <a:spcBef>
                <a:spcPts val="480"/>
              </a:spcBef>
              <a:buClr>
                <a:schemeClr val="lt1"/>
              </a:buClr>
              <a:buSzPct val="100000"/>
              <a:buFont typeface="Trebuchet MS"/>
              <a:defRPr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76200" marL="1143000">
              <a:spcBef>
                <a:spcPts val="480"/>
              </a:spcBef>
              <a:buClr>
                <a:schemeClr val="lt1"/>
              </a:buClr>
              <a:buSzPct val="100000"/>
              <a:buFont typeface="Trebuchet MS"/>
              <a:defRPr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114300" marL="1600200"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114300" marL="2057400"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114300" marL="2514600"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114300" marL="2971800"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114300" marL="3429000"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114300" marL="3886200"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4"/><Relationship Target="../media/image03.png" Type="http://schemas.openxmlformats.org/officeDocument/2006/relationships/image" Id="rId3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4"/><Relationship Target="../media/image06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5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9" name="Shape 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0" name="Shape 70"/>
          <p:cNvSpPr txBox="1"/>
          <p:nvPr>
            <p:ph type="ctrTitle"/>
          </p:nvPr>
        </p:nvSpPr>
        <p:spPr>
          <a:xfrm>
            <a:off y="1568184" x="685800"/>
            <a:ext cy="12380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s"/>
              <a:t>Modelo Incremental</a:t>
            </a:r>
          </a:p>
        </p:txBody>
      </p:sp>
      <p:sp>
        <p:nvSpPr>
          <p:cNvPr id="71" name="Shape 71"/>
          <p:cNvSpPr txBox="1"/>
          <p:nvPr/>
        </p:nvSpPr>
        <p:spPr>
          <a:xfrm>
            <a:off y="4194000" x="6423200"/>
            <a:ext cy="949500" cx="26751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s">
                <a:solidFill>
                  <a:srgbClr val="CCCCCC"/>
                </a:solidFill>
              </a:rPr>
              <a:t>Por:</a:t>
            </a:r>
          </a:p>
          <a:p>
            <a:pPr rtl="0" lvl="0">
              <a:buNone/>
            </a:pPr>
            <a:r>
              <a:rPr lang="es">
                <a:solidFill>
                  <a:srgbClr val="CCCCCC"/>
                </a:solidFill>
              </a:rPr>
              <a:t>Javier Gomez Hernandez</a:t>
            </a:r>
          </a:p>
          <a:p>
            <a:pPr>
              <a:buNone/>
            </a:pPr>
            <a:r>
              <a:rPr lang="es">
                <a:solidFill>
                  <a:srgbClr val="CCCCCC"/>
                </a:solidFill>
              </a:rPr>
              <a:t>Jose David Lopez Orozco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5" name="Shape 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6" name="Shape 76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s"/>
              <a:t>¿Que es el modelo incremental?</a:t>
            </a:r>
          </a:p>
        </p:txBody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000" lang="es">
                <a:solidFill>
                  <a:srgbClr val="FFFFFF"/>
                </a:solidFill>
              </a:rPr>
              <a:t>Propuesto por Harlan Mills en 1980.</a:t>
            </a:r>
          </a:p>
          <a:p>
            <a:pPr rtl="0" lvl="0">
              <a:buNone/>
            </a:pPr>
            <a:r>
              <a:rPr sz="2000" lang="es">
                <a:solidFill>
                  <a:srgbClr val="FFFFFF"/>
                </a:solidFill>
              </a:rPr>
              <a:t>El Modelo Incremental combina elementos del Modelo Lineal Secuencial con la filosofía interactiva de Construcción de Prototipos.</a:t>
            </a:r>
          </a:p>
          <a:p>
            <a:pPr rtl="0" lvl="0">
              <a:buNone/>
            </a:pPr>
            <a:r>
              <a:rPr sz="2000" lang="es">
                <a:solidFill>
                  <a:srgbClr val="FFFFFF"/>
                </a:solidFill>
              </a:rPr>
              <a:t>El modelo incremental aplica secuencias lineales de forma escalonada mientras progresa el tiempo en el calendario.Cada secuencia lineal produce un incremento del software.</a:t>
            </a:r>
          </a:p>
          <a:p>
            <a:pPr rtl="0" lvl="0">
              <a:buNone/>
            </a:pPr>
            <a:r>
              <a:rPr sz="2000" lang="es">
                <a:solidFill>
                  <a:srgbClr val="FFFFFF"/>
                </a:solidFill>
              </a:rPr>
              <a:t>El primer incremento generalmente es un producto esencial denominado núcleo.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1" name="Shape 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2" name="Shape 82"/>
          <p:cNvSpPr txBox="1"/>
          <p:nvPr/>
        </p:nvSpPr>
        <p:spPr>
          <a:xfrm>
            <a:off y="-438925" x="90050"/>
            <a:ext cy="3405300" cx="5233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15000"/>
              </a:lnSpc>
              <a:buNone/>
            </a:pPr>
            <a:r>
              <a:rPr sz="2400" lang="e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 modelo incremental lleva</a:t>
            </a:r>
          </a:p>
          <a:p>
            <a:pPr rtl="0" lvl="0">
              <a:lnSpc>
                <a:spcPct val="115000"/>
              </a:lnSpc>
              <a:buNone/>
            </a:pPr>
            <a:r>
              <a:rPr sz="2400" lang="e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 pensar en un desarrollo modular con entregas parciales del producto software denominados “Incrementos del sistema”</a:t>
            </a:r>
          </a:p>
        </p:txBody>
      </p:sp>
      <p:pic>
        <p:nvPicPr>
          <p:cNvPr id="83" name="Shape 8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86175" x="5397175"/>
            <a:ext cy="2257425" cx="3228975"/>
          </a:xfrm>
          <a:prstGeom prst="rect">
            <a:avLst/>
          </a:prstGeom>
        </p:spPr>
      </p:pic>
      <p:sp>
        <p:nvSpPr>
          <p:cNvPr id="84" name="Shape 84"/>
          <p:cNvSpPr txBox="1"/>
          <p:nvPr/>
        </p:nvSpPr>
        <p:spPr>
          <a:xfrm>
            <a:off y="2143500" x="393900"/>
            <a:ext cy="3000000" cx="45356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15000"/>
              </a:lnSpc>
              <a:buNone/>
            </a:pPr>
            <a:r>
              <a:rPr sz="2400" lang="e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Este modelo permite una</a:t>
            </a:r>
          </a:p>
          <a:p>
            <a:pPr rtl="0" lvl="0">
              <a:lnSpc>
                <a:spcPct val="115000"/>
              </a:lnSpc>
              <a:buNone/>
            </a:pPr>
            <a:r>
              <a:rPr sz="2400" lang="e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Implementación con</a:t>
            </a:r>
          </a:p>
          <a:p>
            <a:pPr rtl="0" lvl="0">
              <a:lnSpc>
                <a:spcPct val="115000"/>
              </a:lnSpc>
              <a:buNone/>
            </a:pPr>
            <a:r>
              <a:rPr sz="2400" lang="e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refinamientos sucesivos</a:t>
            </a:r>
          </a:p>
        </p:txBody>
      </p:sp>
      <p:pic>
        <p:nvPicPr>
          <p:cNvPr id="85" name="Shape 8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y="2639725" x="4564325"/>
            <a:ext cy="2343150" cx="385762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9" name="Shape 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0" name="Shape 90"/>
          <p:cNvSpPr txBox="1"/>
          <p:nvPr>
            <p:ph idx="1" type="body"/>
          </p:nvPr>
        </p:nvSpPr>
        <p:spPr>
          <a:xfrm>
            <a:off y="545525" x="457200"/>
            <a:ext cy="43803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s"/>
              <a:t>En una visión genérica, el proceso se divide en 4 partes:</a:t>
            </a:r>
          </a:p>
          <a:p>
            <a:pPr rtl="0" lvl="0" indent="-381000" marL="457200">
              <a:buClr>
                <a:schemeClr val="lt1"/>
              </a:buClr>
              <a:buSzPct val="166666"/>
              <a:buFont typeface="Arial"/>
              <a:buChar char="•"/>
            </a:pPr>
            <a:r>
              <a:rPr sz="2400" lang="es"/>
              <a:t>Análisis</a:t>
            </a:r>
          </a:p>
          <a:p>
            <a:pPr rtl="0" lvl="0" indent="-381000" marL="457200">
              <a:buClr>
                <a:schemeClr val="lt1"/>
              </a:buClr>
              <a:buSzPct val="166666"/>
              <a:buFont typeface="Arial"/>
              <a:buChar char="•"/>
            </a:pPr>
            <a:r>
              <a:rPr sz="2400" lang="es"/>
              <a:t>Diseño</a:t>
            </a:r>
          </a:p>
          <a:p>
            <a:pPr rtl="0" lvl="0" indent="-381000" marL="457200">
              <a:buClr>
                <a:schemeClr val="lt1"/>
              </a:buClr>
              <a:buSzPct val="166666"/>
              <a:buFont typeface="Arial"/>
              <a:buChar char="•"/>
            </a:pPr>
            <a:r>
              <a:rPr sz="2400" lang="es"/>
              <a:t>Código</a:t>
            </a:r>
          </a:p>
          <a:p>
            <a:pPr rtl="0" lvl="0" indent="-381000" marL="457200">
              <a:buClr>
                <a:schemeClr val="lt1"/>
              </a:buClr>
              <a:buSzPct val="166666"/>
              <a:buFont typeface="Arial"/>
              <a:buChar char="•"/>
            </a:pPr>
            <a:r>
              <a:rPr sz="2400" lang="es"/>
              <a:t>Prueba</a:t>
            </a:r>
          </a:p>
          <a:p>
            <a:r>
              <a:t/>
            </a:r>
          </a:p>
        </p:txBody>
      </p:sp>
      <p:pic>
        <p:nvPicPr>
          <p:cNvPr id="91" name="Shape 9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2182075" x="3136775"/>
            <a:ext cy="2513325" cx="518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5" name="Shape 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Shape 96"/>
          <p:cNvSpPr txBox="1"/>
          <p:nvPr>
            <p:ph idx="1" type="body"/>
          </p:nvPr>
        </p:nvSpPr>
        <p:spPr>
          <a:xfrm>
            <a:off y="130950" x="412175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sz="2400" lang="es">
                <a:solidFill>
                  <a:srgbClr val="FFFFFF"/>
                </a:solidFill>
              </a:rPr>
              <a:t>El modelo incremental es particularmente útil cuando no se cuenta con una dotación de personal suficiente.</a:t>
            </a:r>
          </a:p>
          <a:p>
            <a:pPr rtl="0"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sz="2400" lang="es">
                <a:solidFill>
                  <a:srgbClr val="FFFFFF"/>
                </a:solidFill>
              </a:rPr>
              <a:t>Los primeros pasos los pueden realizar un grupo reducido de personas</a:t>
            </a:r>
          </a:p>
          <a:p>
            <a:r>
              <a:t/>
            </a:r>
          </a:p>
        </p:txBody>
      </p:sp>
      <p:pic>
        <p:nvPicPr>
          <p:cNvPr id="97" name="Shape 9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2031975" x="174900"/>
            <a:ext cy="2724150" cx="4991100"/>
          </a:xfrm>
          <a:prstGeom prst="rect">
            <a:avLst/>
          </a:prstGeom>
        </p:spPr>
      </p:pic>
      <p:pic>
        <p:nvPicPr>
          <p:cNvPr id="98" name="Shape 9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y="2212050" x="5757350"/>
            <a:ext cy="2457450" cx="2781300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2" name="Shape 10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3" name="Shape 103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s"/>
              <a:t>Características</a:t>
            </a:r>
          </a:p>
        </p:txBody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  <a:buFont typeface="Arial"/>
              <a:buNone/>
            </a:pPr>
            <a:r>
              <a:rPr sz="2000" lang="es">
                <a:solidFill>
                  <a:srgbClr val="FFFFFF"/>
                </a:solidFill>
              </a:rPr>
              <a:t>Para la producción del software se usa el principio de “Trabajo en cadena” o “Pipeline”.</a:t>
            </a:r>
          </a:p>
          <a:p>
            <a:pPr rtl="0" lvl="0" indent="-355600" marL="457200">
              <a:lnSpc>
                <a:spcPct val="115000"/>
              </a:lnSpc>
              <a:spcBef>
                <a:spcPts val="0"/>
              </a:spcBef>
              <a:buClr>
                <a:schemeClr val="lt1"/>
              </a:buClr>
              <a:buSzPct val="166666"/>
              <a:buFont typeface="Arial"/>
              <a:buChar char="•"/>
            </a:pPr>
            <a:r>
              <a:rPr sz="2000" lang="es">
                <a:solidFill>
                  <a:srgbClr val="FFFFFF"/>
                </a:solidFill>
              </a:rPr>
              <a:t>Se evitan proyectos largos y se entrega “algo de valor” a los usuarios con cierta frecuencia.</a:t>
            </a:r>
          </a:p>
          <a:p>
            <a:pPr rtl="0" lvl="0" indent="-355600" marL="4572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ct val="166666"/>
              <a:buFont typeface="Arial"/>
              <a:buChar char="•"/>
            </a:pPr>
            <a:r>
              <a:rPr sz="2000" lang="es">
                <a:solidFill>
                  <a:srgbClr val="FFFFFF"/>
                </a:solidFill>
              </a:rPr>
              <a:t>El usuario o cliente tiene una participación considerable en el proceso.</a:t>
            </a:r>
          </a:p>
          <a:p>
            <a:pPr rtl="0" lvl="0" indent="-355600" marL="4572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ct val="166666"/>
              <a:buFont typeface="Arial"/>
              <a:buChar char="•"/>
            </a:pPr>
            <a:r>
              <a:rPr sz="2000" lang="es">
                <a:solidFill>
                  <a:srgbClr val="FFFFFF"/>
                </a:solidFill>
              </a:rPr>
              <a:t>Difícil de evaluar un costo total.</a:t>
            </a:r>
          </a:p>
          <a:p>
            <a:pPr rtl="0" lvl="0" indent="-355600" marL="4572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ct val="166666"/>
              <a:buFont typeface="Arial"/>
              <a:buChar char="•"/>
            </a:pPr>
            <a:r>
              <a:rPr sz="2000" lang="es">
                <a:solidFill>
                  <a:srgbClr val="FFFFFF"/>
                </a:solidFill>
              </a:rPr>
              <a:t>Requiere gestores experimentados.</a:t>
            </a:r>
          </a:p>
          <a:p>
            <a:pPr rtl="0" lvl="0" indent="-355600" marL="4572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ct val="166666"/>
              <a:buFont typeface="Arial"/>
              <a:buChar char="•"/>
            </a:pPr>
            <a:r>
              <a:rPr sz="2000" lang="es">
                <a:solidFill>
                  <a:srgbClr val="FFFFFF"/>
                </a:solidFill>
              </a:rPr>
              <a:t>Los errores en los requisitos se detectan tarde.</a:t>
            </a:r>
          </a:p>
          <a:p>
            <a:pPr rtl="0" lvl="0" indent="-355600" marL="4572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ct val="166666"/>
              <a:buFont typeface="Arial"/>
              <a:buChar char="•"/>
            </a:pPr>
            <a:r>
              <a:rPr sz="2000" lang="es">
                <a:solidFill>
                  <a:srgbClr val="FFFFFF"/>
                </a:solidFill>
              </a:rPr>
              <a:t>El resultado puede ser positivo.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8" name="Shape 1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9" name="Shape 109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s"/>
              <a:t>Ventajas</a:t>
            </a:r>
          </a:p>
        </p:txBody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Reduce el tiempo de desarrollo inicial, ya que se implementa la funcionalidad parcial.</a:t>
            </a:r>
          </a:p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Entrega temprana de partes operativas del software.</a:t>
            </a:r>
          </a:p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Proporciona todas las ventajas del modelo en cascada realimentado, reduciendo sus desventajas solo al ámbito de cada incremento.</a:t>
            </a:r>
          </a:p>
          <a:p>
            <a:pPr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Resulta más sencillo acomodar cambios al acotar el tamaño de los incrementos.</a:t>
            </a:r>
          </a:p>
        </p:txBody>
      </p:sp>
      <p:pic>
        <p:nvPicPr>
          <p:cNvPr id="111" name="Shape 11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0800" x="7336225"/>
            <a:ext cy="1047750" cx="135057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5" name="Shape 1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s"/>
              <a:t>Desventajas</a:t>
            </a:r>
          </a:p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No es recomendable para casos de sistemas en tiempo real, de alto nivel de seguridad, de procesamiento distribuido y/o de alto índice de riesgos.</a:t>
            </a:r>
          </a:p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Requiere una planeación excesiva, tanto administrativa como técnica.</a:t>
            </a:r>
          </a:p>
          <a:p>
            <a:pPr lvl="0" indent="-355600" marL="457200">
              <a:buClr>
                <a:schemeClr val="lt1"/>
              </a:buClr>
              <a:buSzPct val="100000"/>
              <a:buFont typeface="Trebuchet MS"/>
              <a:buChar char="❖"/>
            </a:pPr>
            <a:r>
              <a:rPr sz="2000" lang="es"/>
              <a:t>Requiere de metas claras para conocer el estado del proyecto.</a:t>
            </a:r>
          </a:p>
        </p:txBody>
      </p:sp>
      <p:pic>
        <p:nvPicPr>
          <p:cNvPr id="118" name="Shape 1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76350" x="6944850"/>
            <a:ext cy="1116650" cx="1741949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s"/>
              <a:t>Ejemplo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AutoNum type="arabicPeriod"/>
            </a:pPr>
            <a:r>
              <a:rPr sz="2000" lang="es"/>
              <a:t>Un procesador de texto que sea desarrollado bajo el paradigma incremental podría aportar, en principio, funciones basicas de edicion de archivos y producción de documentos.</a:t>
            </a:r>
          </a:p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AutoNum type="arabicPeriod"/>
            </a:pPr>
            <a:r>
              <a:rPr sz="2000" lang="es"/>
              <a:t>Se le puede agregar edición más sofisticada, y degeneración y mezcla de documentos.</a:t>
            </a:r>
          </a:p>
          <a:p>
            <a:pPr rtl="0" lvl="0" indent="-355600" marL="457200">
              <a:buClr>
                <a:schemeClr val="lt1"/>
              </a:buClr>
              <a:buSzPct val="100000"/>
              <a:buFont typeface="Trebuchet MS"/>
              <a:buAutoNum type="arabicPeriod"/>
            </a:pPr>
            <a:r>
              <a:rPr sz="2000" lang="es"/>
              <a:t>Agregar funciones de corrección ortográfica, esquemas de paginado y plantillas; en cuatro capacidades de dibujo propias y ecuaciones matemáticas…</a:t>
            </a:r>
          </a:p>
          <a:p>
            <a:pPr lvl="0">
              <a:buNone/>
            </a:pPr>
            <a:r>
              <a:rPr sz="2000" lang="es"/>
              <a:t>Así sucesivamente hasta llegar al procesador final requerido.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8" name="Shape 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s"/>
              <a:t>Incremento y Prototipo</a:t>
            </a:r>
          </a:p>
        </p:txBody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u="sng" b="1" sz="3200" lang="es">
                <a:solidFill>
                  <a:srgbClr val="999999"/>
                </a:solidFill>
              </a:rPr>
              <a:t>*Incremento: </a:t>
            </a:r>
            <a:r>
              <a:rPr sz="2400" lang="es"/>
              <a:t>Es el desarrollo del sistema para satisfacer un subconjunto requisitos especificados y en posteriores versiones se incrementa el programa con nuevas funcionalidades que satisfagan mas requisitos.</a:t>
            </a:r>
          </a:p>
          <a:p>
            <a:pPr rtl="0" lvl="0">
              <a:buNone/>
            </a:pPr>
            <a:r>
              <a:rPr u="sng" b="1" sz="3200" lang="es">
                <a:solidFill>
                  <a:srgbClr val="999999"/>
                </a:solidFill>
              </a:rPr>
              <a:t>*Prototipo:</a:t>
            </a:r>
            <a:r>
              <a:rPr lang="es"/>
              <a:t> </a:t>
            </a:r>
            <a:r>
              <a:rPr sz="2400" lang="es"/>
              <a:t>Un prototipo o prototipado puede ser un modelo del ciclo de vida del software, tal como el desarrollo en espiral o el desarrollo en cascada.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4" name="Shape 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Shape 135"/>
          <p:cNvSpPr txBox="1"/>
          <p:nvPr>
            <p:ph idx="1" type="body"/>
          </p:nvPr>
        </p:nvSpPr>
        <p:spPr>
          <a:xfrm>
            <a:off y="1211400" x="175825"/>
            <a:ext cy="3725699" cx="6948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s"/>
              <a:t>La diferencia es que en prototipos se da por hecho que aunque se necesiten varias iteraciones para lograrlo al final se llegará a tener una serie de requisitos completos y sin errores, que no vayan a cambiar más.</a:t>
            </a:r>
          </a:p>
          <a:p>
            <a:pPr rtl="0" lvl="0">
              <a:buClr>
                <a:schemeClr val="dk1"/>
              </a:buClr>
              <a:buSzPct val="45833"/>
              <a:buFont typeface="Arial"/>
              <a:buNone/>
            </a:pPr>
            <a:r>
              <a:rPr sz="2400" lang="es"/>
              <a:t>Mientras que en el incremental se asume que los requisitos pueden cambiar en cualquier momento del ciclo de vida y no solo en la etapa de análisis.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s"/>
              <a:t>Referencias bibliográficas.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342900" marL="457200">
              <a:buClr>
                <a:schemeClr val="lt1"/>
              </a:buClr>
              <a:buSzPct val="100000"/>
              <a:buFont typeface="Trebuchet MS"/>
              <a:buChar char="❏"/>
            </a:pPr>
            <a:r>
              <a:rPr sz="1800" lang="es"/>
              <a:t>Ingeniería del Software, Roger Pressman, McGraw Hill- 5ta Edición.</a:t>
            </a:r>
          </a:p>
          <a:p>
            <a:pPr rtl="0" lvl="0" indent="-342900" marL="457200">
              <a:buClr>
                <a:schemeClr val="lt1"/>
              </a:buClr>
              <a:buSzPct val="100000"/>
              <a:buFont typeface="Trebuchet MS"/>
              <a:buChar char="❏"/>
            </a:pPr>
            <a:r>
              <a:rPr sz="1800" lang="es"/>
              <a:t>Ingeniería del Software, Ian Sommerville, Prentice Hall - 7ma Edición.</a:t>
            </a:r>
          </a:p>
          <a:p>
            <a:pPr lvl="0" indent="-342900" marL="457200">
              <a:buClr>
                <a:schemeClr val="lt1"/>
              </a:buClr>
              <a:buSzPct val="100000"/>
              <a:buFont typeface="Trebuchet MS"/>
              <a:buChar char="❏"/>
            </a:pPr>
            <a:r>
              <a:rPr sz="1800" lang="es"/>
              <a:t>http://procesosoftware.wikispaces.com/Modelo+Incremental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spotlight">
  <a:themeElements>
    <a:clrScheme name="Custom 439">
      <a:dk1>
        <a:srgbClr val="000000"/>
      </a:dk1>
      <a:lt1>
        <a:srgbClr val="FFFFFF"/>
      </a:lt1>
      <a:dk2>
        <a:srgbClr val="5C6E95"/>
      </a:dk2>
      <a:lt2>
        <a:srgbClr val="ACB4C2"/>
      </a:lt2>
      <a:accent1>
        <a:srgbClr val="667E50"/>
      </a:accent1>
      <a:accent2>
        <a:srgbClr val="CFBF73"/>
      </a:accent2>
      <a:accent3>
        <a:srgbClr val="8C7C82"/>
      </a:accent3>
      <a:accent4>
        <a:srgbClr val="9ABF87"/>
      </a:accent4>
      <a:accent5>
        <a:srgbClr val="CF9462"/>
      </a:accent5>
      <a:accent6>
        <a:srgbClr val="A25642"/>
      </a:accent6>
      <a:hlink>
        <a:srgbClr val="5173A5"/>
      </a:hlink>
      <a:folHlink>
        <a:srgbClr val="687282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